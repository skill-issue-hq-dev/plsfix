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demos the PowerPoint Slide and Where pickers across the four link kinds (table, chart, picture, text) and the object tools. Follow the Start here sheet of the demo workbook.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the slide: pick this slide, then a spot, in the Slide picker.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the spot: Where picks a half, a quarter, the whole slide or the selected shape.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Into a placeholder: select the empty picture placeholder, Where = Selected shape, Insert.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the spot: a quarter is a Where option too. Insert each Excel export with its own quarter: the text boxes keep their place when they refresh.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Align and distribute: Align uses the selection's own bounds, Distribute needs three or more objects and keeps the outer two where they are. The ribbon's Arrange group does the same.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 similar picks every object of the same kind and size as the one you clicked. Match size gives every target the width and height of the FIRST object you selected. Swap exchanges the places of exactly two objects.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 Painter copies a solid fill, an outline and the text look (font, size, color, bold, italic), never an object's content or geometry. Capture one object, then Apply to every selected target.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0"/>
            <a:ext cx="11277600" cy="279400"/>
          </a:xfrm>
        </p:spPr>
        <p:txBody>
          <a:bodyPr anchor="t" tIns="0" bIns="0"/>
          <a:lstStyle/>
          <a:p>
            <a:pPr algn="ctr">
              <a:defRPr sz="1600" b="1">
                <a:solidFill>
                  <a:srgbClr val="111111"/>
                </a:solidFill>
              </a:defRPr>
            </a:pPr>
            <a:r>
              <a:t>pls,fix demo deck</a:t>
            </a:r>
          </a:p>
        </p:txBody>
      </p:sp>
      <p:sp>
        <p:nvSpPr>
          <p:cNvPr id="3" name="Content Placeholder 2"/>
          <p:cNvSpPr>
            <a:spLocks noGrp="1"/>
          </p:cNvSpPr>
          <p:nvPr>
            <p:ph idx="1"/>
          </p:nvPr>
        </p:nvSpPr>
        <p:spPr>
          <a:xfrm>
            <a:off x="457200" y="457200"/>
            <a:ext cx="11277600" cy="5943600"/>
          </a:xfrm>
        </p:spPr>
        <p:txBody>
          <a:bodyPr wrap="square"/>
          <a:lstStyle/>
          <a:p>
            <a:pPr>
              <a:buFont typeface="+mj-lt"/>
              <a:buAutoNum type="arabicPeriod"/>
              <a:defRPr sz="1800"/>
            </a:pPr>
            <a:r>
              <a:t>P&amp;L table (a table link) → Slide 2, Where = Whole slide</a:t>
            </a:r>
          </a:p>
          <a:p>
            <a:pPr>
              <a:buFont typeface="+mj-lt"/>
              <a:buAutoNum type="arabicPeriod"/>
              <a:defRPr sz="1800"/>
            </a:pPr>
            <a:r>
              <a:t>Revenue chart (a chart link) → Slide 3, Where = Left half</a:t>
            </a:r>
          </a:p>
          <a:p>
            <a:pPr>
              <a:buFont typeface="+mj-lt"/>
              <a:buAutoNum type="arabicPeriod"/>
              <a:defRPr sz="1800"/>
            </a:pPr>
            <a:r>
              <a:t>Segment pie (a chart link) → Slide 3, Where = Right half</a:t>
            </a:r>
          </a:p>
          <a:p>
            <a:pPr>
              <a:buFont typeface="+mj-lt"/>
              <a:buAutoNum type="arabicPeriod"/>
              <a:defRPr sz="1800"/>
            </a:pPr>
            <a:r>
              <a:t>Picture from the Data sheet (a picture link) → Slide 4: select the empty placeholder, Where = Selected shape</a:t>
            </a:r>
          </a:p>
          <a:p>
            <a:pPr>
              <a:buFont typeface="+mj-lt"/>
              <a:buAutoNum type="arabicPeriod"/>
              <a:defRPr sz="1800"/>
            </a:pPr>
            <a:r>
              <a:t>Headline text (a text link) → Slide 5, Where = Top left; a second text, the table and the chart fill the other quarters</a:t>
            </a:r>
          </a:p>
          <a:p>
            <a:pPr>
              <a:buFont typeface="+mj-lt"/>
              <a:buAutoNum type="arabicPeriod"/>
              <a:defRPr sz="1800"/>
            </a:pPr>
            <a:r>
              <a:t>Object tools on shapes already drawn: Slide 6 align and distribute, Slide 7 match size, select similar and swap, Slide 8 Smart Painter</a:t>
            </a:r>
          </a:p>
          <a:p>
            <a:pPr>
              <a:spcBef>
                <a:spcPts val="2000"/>
              </a:spcBef>
              <a:buNone/>
            </a:pPr>
            <a:r>
              <a:rPr b="1" sz="1400"/>
              <a:t>Commands: </a:t>
            </a:r>
            <a:r>
              <a:rPr sz="1400"/>
              <a:t>open the pane from the pls,fix ribbon tab, Inbox tab (Paste from Excel, the Slide and Where pickers above the list, Insert), Links tab (Update all), Tools tab for the shapes.</a:t>
            </a:r>
          </a:p>
        </p:txBody>
      </p:sp>
      <p:sp>
        <p:nvSpPr>
          <p:cNvPr id="4" name="Rectangle 3"/>
          <p:cNvSpPr/>
          <p:nvPr/>
        </p:nvSpPr>
        <p:spPr>
          <a:xfrm>
            <a:off x="457200" y="279400"/>
            <a:ext cx="11277600" cy="254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0"/>
            <a:ext cx="11277600" cy="279400"/>
          </a:xfrm>
        </p:spPr>
        <p:txBody>
          <a:bodyPr anchor="t" tIns="0" bIns="0"/>
          <a:lstStyle/>
          <a:p>
            <a:pPr algn="ctr">
              <a:defRPr sz="1600" b="1">
                <a:solidFill>
                  <a:srgbClr val="111111"/>
                </a:solidFill>
              </a:defRPr>
            </a:pPr>
            <a:r>
              <a:t>Choose the slide</a:t>
            </a:r>
          </a:p>
        </p:txBody>
      </p:sp>
      <p:sp>
        <p:nvSpPr>
          <p:cNvPr id="3" name="Content Placeholder 2"/>
          <p:cNvSpPr>
            <a:spLocks noGrp="1"/>
          </p:cNvSpPr>
          <p:nvPr>
            <p:ph idx="1"/>
          </p:nvPr>
        </p:nvSpPr>
        <p:spPr>
          <a:xfrm>
            <a:off x="457200" y="457200"/>
            <a:ext cx="11277600" cy="5943600"/>
          </a:xfrm>
        </p:spPr>
        <p:txBody>
          <a:bodyPr/>
          <a:lstStyle/>
          <a:p/>
        </p:txBody>
      </p:sp>
      <p:sp>
        <p:nvSpPr>
          <p:cNvPr id="4" name="Rectangle 3"/>
          <p:cNvSpPr/>
          <p:nvPr/>
        </p:nvSpPr>
        <p:spPr>
          <a:xfrm>
            <a:off x="457200" y="279400"/>
            <a:ext cx="11277600" cy="254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0"/>
            <a:ext cx="11277600" cy="279400"/>
          </a:xfrm>
        </p:spPr>
        <p:txBody>
          <a:bodyPr anchor="t" tIns="0" bIns="0"/>
          <a:lstStyle/>
          <a:p>
            <a:pPr algn="ctr">
              <a:defRPr sz="1600" b="1">
                <a:solidFill>
                  <a:srgbClr val="111111"/>
                </a:solidFill>
              </a:defRPr>
            </a:pPr>
            <a:r>
              <a:t>Choose the spot</a:t>
            </a:r>
          </a:p>
        </p:txBody>
      </p:sp>
      <p:sp>
        <p:nvSpPr>
          <p:cNvPr id="3" name="Rectangle 2"/>
          <p:cNvSpPr/>
          <p:nvPr/>
        </p:nvSpPr>
        <p:spPr>
          <a:xfrm>
            <a:off x="457200" y="279400"/>
            <a:ext cx="11277600" cy="254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457200"/>
            <a:ext cx="5562600" cy="5943600"/>
          </a:xfrm>
          <a:prstGeom prst="rect">
            <a:avLst/>
          </a:prstGeom>
          <a:noFill/>
          <a:ln w="25400">
            <a:solidFill>
              <a:srgbClr val="11111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51600"/>
            <a:ext cx="5562600" cy="304800"/>
          </a:xfrm>
          <a:prstGeom prst="rect">
            <a:avLst/>
          </a:prstGeom>
          <a:noFill/>
        </p:spPr>
        <p:txBody>
          <a:bodyPr wrap="none">
            <a:spAutoFit/>
          </a:bodyPr>
          <a:lstStyle/>
          <a:p>
            <a:pPr algn="ctr">
              <a:defRPr sz="1200">
                <a:solidFill>
                  <a:srgbClr val="111111"/>
                </a:solidFill>
              </a:defRPr>
            </a:pPr>
            <a:r>
              <a:t>Revenue chart: Where = Left half</a:t>
            </a:r>
          </a:p>
        </p:txBody>
      </p:sp>
      <p:sp>
        <p:nvSpPr>
          <p:cNvPr id="6" name="Rectangle 5"/>
          <p:cNvSpPr/>
          <p:nvPr/>
        </p:nvSpPr>
        <p:spPr>
          <a:xfrm>
            <a:off x="6172200" y="457200"/>
            <a:ext cx="5562600" cy="5943600"/>
          </a:xfrm>
          <a:prstGeom prst="rect">
            <a:avLst/>
          </a:prstGeom>
          <a:noFill/>
          <a:ln w="25400">
            <a:solidFill>
              <a:srgbClr val="11111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72200" y="6451600"/>
            <a:ext cx="5562600" cy="304800"/>
          </a:xfrm>
          <a:prstGeom prst="rect">
            <a:avLst/>
          </a:prstGeom>
          <a:noFill/>
        </p:spPr>
        <p:txBody>
          <a:bodyPr wrap="none">
            <a:spAutoFit/>
          </a:bodyPr>
          <a:lstStyle/>
          <a:p>
            <a:pPr algn="ctr">
              <a:defRPr sz="1200">
                <a:solidFill>
                  <a:srgbClr val="111111"/>
                </a:solidFill>
              </a:defRPr>
            </a:pPr>
            <a:r>
              <a:t>Segment pie: Where = Right half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0"/>
            <a:ext cx="11277600" cy="279400"/>
          </a:xfrm>
        </p:spPr>
        <p:txBody>
          <a:bodyPr anchor="t" tIns="0" bIns="0"/>
          <a:lstStyle/>
          <a:p>
            <a:pPr algn="ctr">
              <a:defRPr sz="1600" b="1">
                <a:solidFill>
                  <a:srgbClr val="111111"/>
                </a:solidFill>
              </a:defRPr>
            </a:pPr>
            <a:r>
              <a:t>Into a placeholder</a:t>
            </a:r>
          </a:p>
        </p:txBody>
      </p:sp>
      <p:sp>
        <p:nvSpPr>
          <p:cNvPr id="3" name="Picture Placeholder 2"/>
          <p:cNvSpPr>
            <a:spLocks noGrp="1"/>
          </p:cNvSpPr>
          <p:nvPr>
            <p:ph type="pic" idx="1"/>
          </p:nvPr>
        </p:nvSpPr>
        <p:spPr>
          <a:xfrm>
            <a:off x="457200" y="457200"/>
            <a:ext cx="11277600" cy="5283200"/>
          </a:xfrm>
        </p:spPr>
      </p:sp>
      <p:sp>
        <p:nvSpPr>
          <p:cNvPr id="4" name="Text Placeholder 3"/>
          <p:cNvSpPr>
            <a:spLocks noGrp="1"/>
          </p:cNvSpPr>
          <p:nvPr>
            <p:ph type="body" idx="2" sz="half"/>
          </p:nvPr>
        </p:nvSpPr>
        <p:spPr>
          <a:xfrm>
            <a:off x="457200" y="5892800"/>
            <a:ext cx="11277600" cy="508000"/>
          </a:xfrm>
        </p:spPr>
        <p:txBody>
          <a:bodyPr/>
          <a:lstStyle/>
          <a:p>
            <a:pPr>
              <a:defRPr sz="1400">
                <a:solidFill>
                  <a:srgbClr val="111111"/>
                </a:solidFill>
              </a:defRPr>
            </a:pPr>
            <a:r>
              <a:t>Select the placeholder, Where = Selected shape, Insert.</a:t>
            </a:r>
          </a:p>
        </p:txBody>
      </p:sp>
      <p:sp>
        <p:nvSpPr>
          <p:cNvPr id="5" name="Rectangle 4"/>
          <p:cNvSpPr/>
          <p:nvPr/>
        </p:nvSpPr>
        <p:spPr>
          <a:xfrm>
            <a:off x="457200" y="279400"/>
            <a:ext cx="11277600" cy="254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0"/>
            <a:ext cx="11277600" cy="279400"/>
          </a:xfrm>
        </p:spPr>
        <p:txBody>
          <a:bodyPr anchor="t" tIns="0" bIns="0"/>
          <a:lstStyle/>
          <a:p>
            <a:pPr algn="ctr">
              <a:defRPr sz="1600" b="1">
                <a:solidFill>
                  <a:srgbClr val="111111"/>
                </a:solidFill>
              </a:defRPr>
            </a:pPr>
            <a:r>
              <a:t>Choose the spot: four quarters</a:t>
            </a:r>
          </a:p>
        </p:txBody>
      </p:sp>
      <p:sp>
        <p:nvSpPr>
          <p:cNvPr id="3" name="Rectangle 2"/>
          <p:cNvSpPr/>
          <p:nvPr/>
        </p:nvSpPr>
        <p:spPr>
          <a:xfrm>
            <a:off x="457200" y="279400"/>
            <a:ext cx="11277600" cy="254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457200"/>
            <a:ext cx="5562600" cy="2895600"/>
          </a:xfrm>
          <a:prstGeom prst="rect">
            <a:avLst/>
          </a:prstGeom>
          <a:noFill/>
          <a:ln w="25400">
            <a:solidFill>
              <a:srgbClr val="11111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172200" y="457200"/>
            <a:ext cx="5562600" cy="2895600"/>
          </a:xfrm>
          <a:prstGeom prst="rect">
            <a:avLst/>
          </a:prstGeom>
          <a:noFill/>
          <a:ln w="25400">
            <a:solidFill>
              <a:srgbClr val="11111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3505200"/>
            <a:ext cx="5562600" cy="2895600"/>
          </a:xfrm>
          <a:prstGeom prst="rect">
            <a:avLst/>
          </a:prstGeom>
          <a:noFill/>
          <a:ln w="25400">
            <a:solidFill>
              <a:srgbClr val="11111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172200" y="3505200"/>
            <a:ext cx="5562600" cy="2895600"/>
          </a:xfrm>
          <a:prstGeom prst="rect">
            <a:avLst/>
          </a:prstGeom>
          <a:noFill/>
          <a:ln w="25400">
            <a:solidFill>
              <a:srgbClr val="11111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51600"/>
            <a:ext cx="11277600" cy="304800"/>
          </a:xfrm>
          <a:prstGeom prst="rect">
            <a:avLst/>
          </a:prstGeom>
          <a:noFill/>
        </p:spPr>
        <p:txBody>
          <a:bodyPr wrap="none">
            <a:spAutoFit/>
          </a:bodyPr>
          <a:lstStyle/>
          <a:p>
            <a:pPr algn="ctr">
              <a:defRPr sz="1200">
                <a:solidFill>
                  <a:srgbClr val="111111"/>
                </a:solidFill>
              </a:defRPr>
            </a:pPr>
            <a:r>
              <a:t>Top left and top right: the two text links; bottom left: the P&amp;L table; bottom right: the Revenue chart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0"/>
            <a:ext cx="11277600" cy="279400"/>
          </a:xfrm>
        </p:spPr>
        <p:txBody>
          <a:bodyPr anchor="t" tIns="0" bIns="0"/>
          <a:lstStyle/>
          <a:p>
            <a:pPr algn="ctr">
              <a:defRPr sz="1600" b="1">
                <a:solidFill>
                  <a:srgbClr val="111111"/>
                </a:solidFill>
              </a:defRPr>
            </a:pPr>
            <a:r>
              <a:t>Object tools: align and distribute</a:t>
            </a:r>
          </a:p>
        </p:txBody>
      </p:sp>
      <p:sp>
        <p:nvSpPr>
          <p:cNvPr id="3" name="Rectangle 2"/>
          <p:cNvSpPr/>
          <p:nvPr/>
        </p:nvSpPr>
        <p:spPr>
          <a:xfrm>
            <a:off x="457200" y="279400"/>
            <a:ext cx="11277600" cy="254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ox A"/>
          <p:cNvSpPr/>
          <p:nvPr/>
        </p:nvSpPr>
        <p:spPr>
          <a:xfrm>
            <a:off x="762000" y="1905000"/>
            <a:ext cx="1397000" cy="762000"/>
          </a:xfrm>
          <a:prstGeom prst="rect">
            <a:avLst/>
          </a:prstGeom>
          <a:solidFill>
            <a:srgbClr val="CBCBCB"/>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A</a:t>
            </a:r>
          </a:p>
        </p:txBody>
      </p:sp>
      <p:sp>
        <p:nvSpPr>
          <p:cNvPr id="5" name="Box B"/>
          <p:cNvSpPr/>
          <p:nvPr/>
        </p:nvSpPr>
        <p:spPr>
          <a:xfrm>
            <a:off x="2286000" y="3175000"/>
            <a:ext cx="1397000" cy="762000"/>
          </a:xfrm>
          <a:prstGeom prst="rect">
            <a:avLst/>
          </a:prstGeom>
          <a:solidFill>
            <a:srgbClr val="CBCBCB"/>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B</a:t>
            </a:r>
          </a:p>
        </p:txBody>
      </p:sp>
      <p:sp>
        <p:nvSpPr>
          <p:cNvPr id="6" name="Box C"/>
          <p:cNvSpPr/>
          <p:nvPr/>
        </p:nvSpPr>
        <p:spPr>
          <a:xfrm>
            <a:off x="3810000" y="1651000"/>
            <a:ext cx="1397000" cy="762000"/>
          </a:xfrm>
          <a:prstGeom prst="rect">
            <a:avLst/>
          </a:prstGeom>
          <a:solidFill>
            <a:srgbClr val="CBCBCB"/>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C</a:t>
            </a:r>
          </a:p>
        </p:txBody>
      </p:sp>
      <p:sp>
        <p:nvSpPr>
          <p:cNvPr id="7" name="Box D"/>
          <p:cNvSpPr/>
          <p:nvPr/>
        </p:nvSpPr>
        <p:spPr>
          <a:xfrm>
            <a:off x="7112000" y="3302000"/>
            <a:ext cx="1397000" cy="762000"/>
          </a:xfrm>
          <a:prstGeom prst="rect">
            <a:avLst/>
          </a:prstGeom>
          <a:solidFill>
            <a:srgbClr val="CBCBCB"/>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D</a:t>
            </a:r>
          </a:p>
        </p:txBody>
      </p:sp>
      <p:sp>
        <p:nvSpPr>
          <p:cNvPr id="8" name="Box E"/>
          <p:cNvSpPr/>
          <p:nvPr/>
        </p:nvSpPr>
        <p:spPr>
          <a:xfrm>
            <a:off x="10033000" y="2159000"/>
            <a:ext cx="1397000" cy="762000"/>
          </a:xfrm>
          <a:prstGeom prst="rect">
            <a:avLst/>
          </a:prstGeom>
          <a:solidFill>
            <a:srgbClr val="CBCBCB"/>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E</a:t>
            </a:r>
          </a:p>
        </p:txBody>
      </p:sp>
      <p:sp>
        <p:nvSpPr>
          <p:cNvPr id="9" name="TextBox 8"/>
          <p:cNvSpPr txBox="1"/>
          <p:nvPr/>
        </p:nvSpPr>
        <p:spPr>
          <a:xfrm>
            <a:off x="457200" y="5461000"/>
            <a:ext cx="11277600" cy="304800"/>
          </a:xfrm>
          <a:prstGeom prst="rect">
            <a:avLst/>
          </a:prstGeom>
          <a:noFill/>
        </p:spPr>
        <p:txBody>
          <a:bodyPr wrap="none">
            <a:spAutoFit/>
          </a:bodyPr>
          <a:lstStyle/>
          <a:p>
            <a:pPr algn="ctr">
              <a:defRPr sz="1400">
                <a:solidFill>
                  <a:srgbClr val="111111"/>
                </a:solidFill>
              </a:defRPr>
            </a:pPr>
            <a:r>
              <a:t>Select all five, choose Top in Align and press Apply. Then select A, C and E, choose Across in Distribute and press Apply.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0"/>
            <a:ext cx="11277600" cy="279400"/>
          </a:xfrm>
        </p:spPr>
        <p:txBody>
          <a:bodyPr anchor="t" tIns="0" bIns="0"/>
          <a:lstStyle/>
          <a:p>
            <a:pPr algn="ctr">
              <a:defRPr sz="1600" b="1">
                <a:solidFill>
                  <a:srgbClr val="111111"/>
                </a:solidFill>
              </a:defRPr>
            </a:pPr>
            <a:r>
              <a:t>Object tools: match size, select similar, swap</a:t>
            </a:r>
          </a:p>
        </p:txBody>
      </p:sp>
      <p:sp>
        <p:nvSpPr>
          <p:cNvPr id="3" name="Rectangle 2"/>
          <p:cNvSpPr/>
          <p:nvPr/>
        </p:nvSpPr>
        <p:spPr>
          <a:xfrm>
            <a:off x="457200" y="279400"/>
            <a:ext cx="11277600" cy="254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ox A"/>
          <p:cNvSpPr/>
          <p:nvPr/>
        </p:nvSpPr>
        <p:spPr>
          <a:xfrm>
            <a:off x="762000" y="1397000"/>
            <a:ext cx="1524000" cy="889000"/>
          </a:xfrm>
          <a:prstGeom prst="rect">
            <a:avLst/>
          </a:prstGeom>
          <a:solidFill>
            <a:srgbClr val="CBCBCB"/>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A</a:t>
            </a:r>
          </a:p>
        </p:txBody>
      </p:sp>
      <p:sp>
        <p:nvSpPr>
          <p:cNvPr id="5" name="Box B"/>
          <p:cNvSpPr/>
          <p:nvPr/>
        </p:nvSpPr>
        <p:spPr>
          <a:xfrm>
            <a:off x="3556000" y="1397000"/>
            <a:ext cx="1524000" cy="889000"/>
          </a:xfrm>
          <a:prstGeom prst="rect">
            <a:avLst/>
          </a:prstGeom>
          <a:solidFill>
            <a:srgbClr val="CBCBCB"/>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B</a:t>
            </a:r>
          </a:p>
        </p:txBody>
      </p:sp>
      <p:sp>
        <p:nvSpPr>
          <p:cNvPr id="6" name="Box C"/>
          <p:cNvSpPr/>
          <p:nvPr/>
        </p:nvSpPr>
        <p:spPr>
          <a:xfrm>
            <a:off x="5334000" y="1397000"/>
            <a:ext cx="1524000" cy="889000"/>
          </a:xfrm>
          <a:prstGeom prst="rect">
            <a:avLst/>
          </a:prstGeom>
          <a:solidFill>
            <a:srgbClr val="CBCBCB"/>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C</a:t>
            </a:r>
          </a:p>
        </p:txBody>
      </p:sp>
      <p:sp>
        <p:nvSpPr>
          <p:cNvPr id="7" name="Box D"/>
          <p:cNvSpPr/>
          <p:nvPr/>
        </p:nvSpPr>
        <p:spPr>
          <a:xfrm>
            <a:off x="7366000" y="1270000"/>
            <a:ext cx="2540000" cy="1397000"/>
          </a:xfrm>
          <a:prstGeom prst="rect">
            <a:avLst/>
          </a:prstGeom>
          <a:solidFill>
            <a:srgbClr val="D3D8B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D</a:t>
            </a:r>
          </a:p>
        </p:txBody>
      </p:sp>
      <p:sp>
        <p:nvSpPr>
          <p:cNvPr id="8" name="Box E"/>
          <p:cNvSpPr/>
          <p:nvPr/>
        </p:nvSpPr>
        <p:spPr>
          <a:xfrm>
            <a:off x="5588000" y="3111500"/>
            <a:ext cx="1143000" cy="635000"/>
          </a:xfrm>
          <a:prstGeom prst="rect">
            <a:avLst/>
          </a:prstGeom>
          <a:solidFill>
            <a:srgbClr val="D3D8B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E</a:t>
            </a:r>
          </a:p>
        </p:txBody>
      </p:sp>
      <p:sp>
        <p:nvSpPr>
          <p:cNvPr id="9" name="Circle 1"/>
          <p:cNvSpPr/>
          <p:nvPr/>
        </p:nvSpPr>
        <p:spPr>
          <a:xfrm>
            <a:off x="2286000" y="3810000"/>
            <a:ext cx="1143000" cy="1143000"/>
          </a:xfrm>
          <a:prstGeom prst="ellipse">
            <a:avLst/>
          </a:prstGeom>
          <a:solidFill>
            <a:srgbClr val="CBCBCB"/>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1</a:t>
            </a:r>
          </a:p>
        </p:txBody>
      </p:sp>
      <p:sp>
        <p:nvSpPr>
          <p:cNvPr id="10" name="Circle 2"/>
          <p:cNvSpPr/>
          <p:nvPr/>
        </p:nvSpPr>
        <p:spPr>
          <a:xfrm>
            <a:off x="8890000" y="3810000"/>
            <a:ext cx="1143000" cy="1143000"/>
          </a:xfrm>
          <a:prstGeom prst="ellipse">
            <a:avLst/>
          </a:prstGeom>
          <a:solidFill>
            <a:srgbClr val="D3D8B8"/>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2</a:t>
            </a:r>
          </a:p>
        </p:txBody>
      </p:sp>
      <p:sp>
        <p:nvSpPr>
          <p:cNvPr id="11" name="TextBox 10"/>
          <p:cNvSpPr txBox="1"/>
          <p:nvPr/>
        </p:nvSpPr>
        <p:spPr>
          <a:xfrm>
            <a:off x="457200" y="5461000"/>
            <a:ext cx="11277600" cy="304800"/>
          </a:xfrm>
          <a:prstGeom prst="rect">
            <a:avLst/>
          </a:prstGeom>
          <a:noFill/>
        </p:spPr>
        <p:txBody>
          <a:bodyPr wrap="none">
            <a:spAutoFit/>
          </a:bodyPr>
          <a:lstStyle/>
          <a:p>
            <a:pPr algn="ctr">
              <a:defRPr sz="1400">
                <a:solidFill>
                  <a:srgbClr val="111111"/>
                </a:solidFill>
              </a:defRPr>
            </a:pPr>
            <a:r>
              <a:t>Select similar: click A. Match size: select D first, then A and E. Swap: select the two circles.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0"/>
            <a:ext cx="11277600" cy="279400"/>
          </a:xfrm>
        </p:spPr>
        <p:txBody>
          <a:bodyPr anchor="t" tIns="0" bIns="0"/>
          <a:lstStyle/>
          <a:p>
            <a:pPr algn="ctr">
              <a:defRPr sz="1600" b="1">
                <a:solidFill>
                  <a:srgbClr val="111111"/>
                </a:solidFill>
              </a:defRPr>
            </a:pPr>
            <a:r>
              <a:t>Object tools: Smart Painter</a:t>
            </a:r>
          </a:p>
        </p:txBody>
      </p:sp>
      <p:sp>
        <p:nvSpPr>
          <p:cNvPr id="3" name="Rectangle 2"/>
          <p:cNvSpPr/>
          <p:nvPr/>
        </p:nvSpPr>
        <p:spPr>
          <a:xfrm>
            <a:off x="457200" y="279400"/>
            <a:ext cx="11277600" cy="2540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ource"/>
          <p:cNvSpPr/>
          <p:nvPr/>
        </p:nvSpPr>
        <p:spPr>
          <a:xfrm>
            <a:off x="1016000" y="1778000"/>
            <a:ext cx="2540000" cy="1397000"/>
          </a:xfrm>
          <a:prstGeom prst="rect">
            <a:avLst/>
          </a:prstGeom>
          <a:solidFill>
            <a:srgbClr val="6D7E12"/>
          </a:solidFill>
          <a:ln w="381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Source</a:t>
            </a:r>
          </a:p>
        </p:txBody>
      </p:sp>
      <p:sp>
        <p:nvSpPr>
          <p:cNvPr id="5" name="Target 1"/>
          <p:cNvSpPr/>
          <p:nvPr/>
        </p:nvSpPr>
        <p:spPr>
          <a:xfrm>
            <a:off x="4318000" y="1778000"/>
            <a:ext cx="1905000" cy="1397000"/>
          </a:xfrm>
          <a:prstGeom prst="rect">
            <a:avLst/>
          </a:prstGeom>
          <a:solidFill>
            <a:srgbClr val="CBCBCB"/>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Target 1</a:t>
            </a:r>
          </a:p>
        </p:txBody>
      </p:sp>
      <p:sp>
        <p:nvSpPr>
          <p:cNvPr id="6" name="Target 2"/>
          <p:cNvSpPr/>
          <p:nvPr/>
        </p:nvSpPr>
        <p:spPr>
          <a:xfrm>
            <a:off x="6604000" y="1778000"/>
            <a:ext cx="1905000" cy="1397000"/>
          </a:xfrm>
          <a:prstGeom prst="rect">
            <a:avLst/>
          </a:prstGeom>
          <a:solidFill>
            <a:srgbClr val="CBCBCB"/>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Target 2</a:t>
            </a:r>
          </a:p>
        </p:txBody>
      </p:sp>
      <p:sp>
        <p:nvSpPr>
          <p:cNvPr id="7" name="Target 3"/>
          <p:cNvSpPr/>
          <p:nvPr/>
        </p:nvSpPr>
        <p:spPr>
          <a:xfrm>
            <a:off x="8890000" y="1778000"/>
            <a:ext cx="1905000" cy="1397000"/>
          </a:xfrm>
          <a:prstGeom prst="rect">
            <a:avLst/>
          </a:prstGeom>
          <a:solidFill>
            <a:srgbClr val="CBCBCB"/>
          </a:solidFill>
          <a:ln w="1587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111111"/>
                </a:solidFill>
              </a:defRPr>
            </a:pPr>
            <a:r>
              <a:t>Target 3</a:t>
            </a:r>
          </a:p>
        </p:txBody>
      </p:sp>
      <p:sp>
        <p:nvSpPr>
          <p:cNvPr id="8" name="TextBox 7"/>
          <p:cNvSpPr txBox="1"/>
          <p:nvPr/>
        </p:nvSpPr>
        <p:spPr>
          <a:xfrm>
            <a:off x="457200" y="5461000"/>
            <a:ext cx="11277600" cy="304800"/>
          </a:xfrm>
          <a:prstGeom prst="rect">
            <a:avLst/>
          </a:prstGeom>
          <a:noFill/>
        </p:spPr>
        <p:txBody>
          <a:bodyPr wrap="none">
            <a:spAutoFit/>
          </a:bodyPr>
          <a:lstStyle/>
          <a:p>
            <a:pPr algn="ctr">
              <a:defRPr sz="1400">
                <a:solidFill>
                  <a:srgbClr val="111111"/>
                </a:solidFill>
              </a:defRPr>
            </a:pPr>
            <a:r>
              <a:t>Select the olive box and press Capture. Select the three grey boxes and press Apply: they take its fill, outline and text look, not its size or words.</a:t>
            </a:r>
          </a:p>
        </p:txBody>
      </p:sp>
    </p:spTree>
  </p:cSld>
  <p:clrMapOvr>
    <a:masterClrMapping/>
  </p:clrMapOvr>
</p:sld>
</file>

<file path=ppt/theme/theme1.xml><?xml version="1.0" encoding="utf-8"?>
<a:theme xmlns:a="http://schemas.openxmlformats.org/drawingml/2006/main" name="Office Theme">
  <a:themeElements>
    <a:clrScheme name="Highlighter">
      <a:dk1>
        <a:srgbClr val="111111"/>
      </a:dk1>
      <a:lt1>
        <a:srgbClr val="FFFFFF"/>
      </a:lt1>
      <a:dk2>
        <a:srgbClr val="575752"/>
      </a:dk2>
      <a:lt2>
        <a:srgbClr val="F7F7F2"/>
      </a:lt2>
      <a:accent1>
        <a:srgbClr val="111111"/>
      </a:accent1>
      <a:accent2>
        <a:srgbClr val="6D7E12"/>
      </a:accent2>
      <a:accent3>
        <a:srgbClr val="949494"/>
      </a:accent3>
      <a:accent4>
        <a:srgbClr val="AFB87D"/>
      </a:accent4>
      <a:accent5>
        <a:srgbClr val="CBCBCB"/>
      </a:accent5>
      <a:accent6>
        <a:srgbClr val="D3D8B8"/>
      </a:accent6>
      <a:hlink>
        <a:srgbClr val="4D5B00"/>
      </a:hlink>
      <a:folHlink>
        <a:srgbClr val="57575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Highlighter">
      <a:dk1>
        <a:srgbClr val="111111"/>
      </a:dk1>
      <a:lt1>
        <a:srgbClr val="FFFFFF"/>
      </a:lt1>
      <a:dk2>
        <a:srgbClr val="575752"/>
      </a:dk2>
      <a:lt2>
        <a:srgbClr val="F7F7F2"/>
      </a:lt2>
      <a:accent1>
        <a:srgbClr val="111111"/>
      </a:accent1>
      <a:accent2>
        <a:srgbClr val="6D7E12"/>
      </a:accent2>
      <a:accent3>
        <a:srgbClr val="949494"/>
      </a:accent3>
      <a:accent4>
        <a:srgbClr val="AFB87D"/>
      </a:accent4>
      <a:accent5>
        <a:srgbClr val="CBCBCB"/>
      </a:accent5>
      <a:accent6>
        <a:srgbClr val="D3D8B8"/>
      </a:accent6>
      <a:hlink>
        <a:srgbClr val="4D5B00"/>
      </a:hlink>
      <a:folHlink>
        <a:srgbClr val="57575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pls,fix Demo Deck</dc:title>
  <dc:subject/>
  <dc:creator>pls,fix</dc:creator>
  <cp:keywords/>
  <dc:description/>
  <cp:lastModifiedBy>pls,fix</cp:lastModifiedBy>
  <cp:revision>1</cp:revision>
  <dcterms:created xsi:type="dcterms:W3CDTF">2026-10-06T00:00:00Z</dcterms:created>
  <dcterms:modified xsi:type="dcterms:W3CDTF">2026-10-06T00:00:00Z</dcterms:modified>
  <cp:category/>
</cp:coreProperties>
</file>